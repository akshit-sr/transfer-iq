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69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0568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ransfer-iq-infosys.onrender.c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2743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0" y="2743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2743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29400" y="2743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2743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86600" y="2743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2743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43800" y="2743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5029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5029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5029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5029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5029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86600" y="5029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5029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43800" y="5029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7315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7315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7315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29400" y="7315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7315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7315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7315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43800" y="7315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9601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9601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9601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29400" y="9601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0" y="9601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86600" y="9601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0" y="9601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43800" y="9601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11887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72200" y="11887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0" y="11887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29400" y="11887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0" y="11887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86600" y="11887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15200" y="11887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43800" y="1188720"/>
            <a:ext cx="64008" cy="64008"/>
          </a:xfrm>
          <a:prstGeom prst="ellipse">
            <a:avLst/>
          </a:prstGeom>
          <a:solidFill>
            <a:srgbClr val="2D9CDB">
              <a:alpha val="30000"/>
            </a:srgbClr>
          </a:solidFill>
          <a:ln w="12700">
            <a:solidFill>
              <a:srgbClr val="2D9CDB">
                <a:alpha val="3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TransferIQ</a:t>
            </a:r>
            <a:endParaRPr lang="en-US" sz="4800" dirty="0"/>
          </a:p>
        </p:txBody>
      </p:sp>
      <p:sp>
        <p:nvSpPr>
          <p:cNvPr id="45" name="Text 43"/>
          <p:cNvSpPr/>
          <p:nvPr/>
        </p:nvSpPr>
        <p:spPr>
          <a:xfrm>
            <a:off x="457200" y="23317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Player Transfer Value Prediction using AI and Multi-source Data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28600" y="6126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of accurately predicting player transfer values in professional football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274242"/>
            <a:ext cx="5029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74242"/>
            <a:ext cx="45720" cy="34747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39311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Challenge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1777162"/>
            <a:ext cx="4572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transfer markets drive multi-billion euro decisions in professional football</a:t>
            </a:r>
            <a:endParaRPr lang="en-US" sz="10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valuation methods rely heavily on subjective expert opinions and incomplete data</a:t>
            </a:r>
            <a:endParaRPr lang="en-US" sz="10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sentiment, injuries and market trends are rarely unified into one model</a:t>
            </a:r>
            <a:endParaRPr lang="en-US" sz="10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05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Clubs lack a dynamic, real-time tool for objective and transparent transfer valuation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60720" y="1274242"/>
            <a:ext cx="301752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60720" y="134739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€9.5B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760720" y="182288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Transfer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Value (2023)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760720" y="2481250"/>
            <a:ext cx="301752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60720" y="255440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760720" y="302989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Clubs report poor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accuracy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760720" y="3688258"/>
            <a:ext cx="301752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760720" y="376141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760720" y="423689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ignored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current models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28600" y="6126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AI-driven, multi-source platform for dynamic transfer value prediction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124287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TransferIQ integrates diverse data streams into a unified ML pipeline to deliver real-time, accurate player valuations.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759866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759866"/>
            <a:ext cx="45720" cy="132588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86959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Data Fusion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219877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performance stats, social media sentiment, injury records, and historical market data in one place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59866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759866"/>
            <a:ext cx="45720" cy="13258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2312" y="186959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Prediction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82312" y="219877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ML and time-series models (XGBoost, LSTM, Prophet) trained on comprehensive historical transfer data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268626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268626"/>
            <a:ext cx="45720" cy="1325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37835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Real-Time Valuation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" y="370753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updates ensure valuations always reflect current player form, market trends, and sentiment shifts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3268626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3268626"/>
            <a:ext cx="45720" cy="13258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7835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Outputs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82312" y="370753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SHAP-powered factor breakdowns showing exactly what drives each player's estimated transfer value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28600" y="6126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powering the TransferIQ platform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TransferIQ  |  AI-Powered Transfer Value Prediction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342226"/>
            <a:ext cx="1463040" cy="64008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42226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65960" y="1342226"/>
            <a:ext cx="68580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1342226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HTML·  CSS  · JavaScript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110322"/>
            <a:ext cx="1463040" cy="6400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10322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65960" y="2110322"/>
            <a:ext cx="68580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211032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FastAPI  ·  REST APIs  ·  BeautifulSoup (Web Scraping)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878418"/>
            <a:ext cx="1463040" cy="6400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7841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65960" y="2878418"/>
            <a:ext cx="68580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03120" y="2878418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 ·  XGBoost  ·  LSTM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646514"/>
            <a:ext cx="1463040" cy="6400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646514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965960" y="3646514"/>
            <a:ext cx="68580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3646514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Transfermarkt  · Twitter/X API  ·  Kaggle  ·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Statsbomb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Diagram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28600" y="6126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and prediction pipeline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623060" y="2512989"/>
            <a:ext cx="32004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79092" y="2458125"/>
            <a:ext cx="109728" cy="16459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" y="1626021"/>
            <a:ext cx="1417320" cy="18288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763181"/>
            <a:ext cx="402336" cy="402336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1763181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5740" y="2284389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5740" y="2814741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scraping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social media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51860" y="2512989"/>
            <a:ext cx="32004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07892" y="2458125"/>
            <a:ext cx="109728" cy="16459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34540" y="1626021"/>
            <a:ext cx="1417320" cy="1828800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42032" y="1763181"/>
            <a:ext cx="402336" cy="402336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42032" y="1763181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34540" y="2284389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34540" y="2814741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280660" y="2512989"/>
            <a:ext cx="32004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36692" y="2458125"/>
            <a:ext cx="109728" cy="16459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63340" y="1626021"/>
            <a:ext cx="1417320" cy="1828800"/>
          </a:xfrm>
          <a:prstGeom prst="rect">
            <a:avLst/>
          </a:prstGeom>
          <a:solidFill>
            <a:srgbClr val="2196B3"/>
          </a:solidFill>
          <a:ln w="12700">
            <a:solidFill>
              <a:srgbClr val="2196B3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70832" y="1763181"/>
            <a:ext cx="402336" cy="402336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1763181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63340" y="2284389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63340" y="2814741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Stats, sentiment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injury scores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109460" y="2512989"/>
            <a:ext cx="32004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65492" y="2458125"/>
            <a:ext cx="109728" cy="16459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92140" y="1626021"/>
            <a:ext cx="1417320" cy="18288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99632" y="1763181"/>
            <a:ext cx="402336" cy="402336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99632" y="1763181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692140" y="2284389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92140" y="2814741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LSTM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Prophet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520940" y="1626021"/>
            <a:ext cx="1417320" cy="18288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028432" y="1763181"/>
            <a:ext cx="402336" cy="402336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28432" y="1763181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520940" y="2284389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520940" y="2814741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7200" y="3820581"/>
            <a:ext cx="8229600" cy="6400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3820581"/>
            <a:ext cx="45720" cy="64008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3820581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→  Predicted Transfer Value  +  Confidence Score  +  Factor Breakdown (SHAP)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Viability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28600" y="6126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TransferIQ is technically and commercially sound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242734"/>
            <a:ext cx="4114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42734"/>
            <a:ext cx="4114800" cy="41148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24273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1745654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APIs and data sources are publicly available</a:t>
            </a:r>
            <a:endParaRPr lang="en-US" sz="10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Battle-tested ML frameworks (scikit-learn, XGBoost, LSTM)</a:t>
            </a:r>
            <a:endParaRPr lang="en-US" sz="10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cloud deployment via Render.com</a:t>
            </a:r>
            <a:endParaRPr lang="en-US" sz="10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already implemented and live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242734"/>
            <a:ext cx="4114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242734"/>
            <a:ext cx="411480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24273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Viability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8032" y="1745654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transfer market valued at €9.5B+ globally</a:t>
            </a:r>
            <a:endParaRPr lang="en-US" sz="10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dominant AI-based valuation tool exists in the market</a:t>
            </a:r>
            <a:endParaRPr lang="en-US" sz="10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SaaS model targeting clubs, agents, and analysts</a:t>
            </a:r>
            <a:endParaRPr lang="en-US" sz="10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tier for scouts and individual researchers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Benefits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28600" y="6126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how football clubs and analysts make transfer decisions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512788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512788"/>
            <a:ext cx="2743200" cy="64008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6499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Smarter Investments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9768" y="19517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valuations reduce costly overpayments and uncover undervalued talent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54680" y="1512788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512788"/>
            <a:ext cx="274320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16499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Unified Analytics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64408" y="19517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platform to fuse performance, sentiment, injury, and market data into one engine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89320" y="1512788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89320" y="1512788"/>
            <a:ext cx="274320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9048" y="16499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Real-Time Updates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99048" y="19517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model reflects live player form, breaking news, and recent matches within hours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021548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021548"/>
            <a:ext cx="2743200" cy="640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31587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Transparent AI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9768" y="34604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shows exactly which factors influence each valuation — no black box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54680" y="3021548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3021548"/>
            <a:ext cx="2743200" cy="640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64408" y="31587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Scalable Globally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64408" y="34604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multiple leagues; easily extended to NBA, cricket, and other global sports markets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89320" y="3021548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89320" y="3021548"/>
            <a:ext cx="274320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99048" y="31587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Competitive Edge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099048" y="34604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Clubs using data-driven scouting gain measurable advantages over rivals relying on intuition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228600"/>
            <a:ext cx="73152" cy="73152"/>
          </a:xfrm>
          <a:prstGeom prst="ellipse">
            <a:avLst/>
          </a:prstGeom>
          <a:solidFill>
            <a:srgbClr val="2D9CDB">
              <a:alpha val="35000"/>
            </a:srgbClr>
          </a:solidFill>
          <a:ln w="12700">
            <a:solidFill>
              <a:srgbClr val="2D9CDB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73952" y="228600"/>
            <a:ext cx="73152" cy="73152"/>
          </a:xfrm>
          <a:prstGeom prst="ellipse">
            <a:avLst/>
          </a:prstGeom>
          <a:solidFill>
            <a:srgbClr val="2D9CDB">
              <a:alpha val="35000"/>
            </a:srgbClr>
          </a:solidFill>
          <a:ln w="12700">
            <a:solidFill>
              <a:srgbClr val="2D9CDB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29984" y="228600"/>
            <a:ext cx="73152" cy="73152"/>
          </a:xfrm>
          <a:prstGeom prst="ellipse">
            <a:avLst/>
          </a:prstGeom>
          <a:solidFill>
            <a:srgbClr val="2D9CDB">
              <a:alpha val="35000"/>
            </a:srgbClr>
          </a:solidFill>
          <a:ln w="12700">
            <a:solidFill>
              <a:srgbClr val="2D9CDB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86016" y="228600"/>
            <a:ext cx="73152" cy="73152"/>
          </a:xfrm>
          <a:prstGeom prst="ellipse">
            <a:avLst/>
          </a:prstGeom>
          <a:solidFill>
            <a:srgbClr val="2D9CDB">
              <a:alpha val="35000"/>
            </a:srgbClr>
          </a:solidFill>
          <a:ln w="12700">
            <a:solidFill>
              <a:srgbClr val="2D9CDB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42048" y="228600"/>
            <a:ext cx="73152" cy="73152"/>
          </a:xfrm>
          <a:prstGeom prst="ellipse">
            <a:avLst/>
          </a:prstGeom>
          <a:solidFill>
            <a:srgbClr val="2D9CDB">
              <a:alpha val="35000"/>
            </a:srgbClr>
          </a:solidFill>
          <a:ln w="12700">
            <a:solidFill>
              <a:srgbClr val="2D9CDB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228600"/>
            <a:ext cx="73152" cy="73152"/>
          </a:xfrm>
          <a:prstGeom prst="ellipse">
            <a:avLst/>
          </a:prstGeom>
          <a:solidFill>
            <a:srgbClr val="2D9CDB">
              <a:alpha val="35000"/>
            </a:srgbClr>
          </a:solidFill>
          <a:ln w="12700">
            <a:solidFill>
              <a:srgbClr val="2D9CDB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484632"/>
            <a:ext cx="73152" cy="73152"/>
          </a:xfrm>
          <a:prstGeom prst="ellipse">
            <a:avLst/>
          </a:prstGeom>
          <a:solidFill>
            <a:srgbClr val="2D9CDB">
              <a:alpha val="35000"/>
            </a:srgbClr>
          </a:solidFill>
          <a:ln w="12700">
            <a:solidFill>
              <a:srgbClr val="2D9CDB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73952" y="484632"/>
            <a:ext cx="73152" cy="73152"/>
          </a:xfrm>
          <a:prstGeom prst="ellipse">
            <a:avLst/>
          </a:prstGeom>
          <a:solidFill>
            <a:srgbClr val="2D9CDB">
              <a:alpha val="35000"/>
            </a:srgbClr>
          </a:solidFill>
          <a:ln w="12700">
            <a:solidFill>
              <a:srgbClr val="2D9CDB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29984" y="484632"/>
            <a:ext cx="73152" cy="73152"/>
          </a:xfrm>
          <a:prstGeom prst="ellipse">
            <a:avLst/>
          </a:prstGeom>
          <a:solidFill>
            <a:srgbClr val="2D9CDB">
              <a:alpha val="35000"/>
            </a:srgbClr>
          </a:solidFill>
          <a:ln w="12700">
            <a:solidFill>
              <a:srgbClr val="2D9CDB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86016" y="484632"/>
            <a:ext cx="73152" cy="73152"/>
          </a:xfrm>
          <a:prstGeom prst="ellipse">
            <a:avLst/>
          </a:prstGeom>
          <a:solidFill>
            <a:srgbClr val="2D9CDB">
              <a:alpha val="35000"/>
            </a:srgbClr>
          </a:solidFill>
          <a:ln w="12700">
            <a:solidFill>
              <a:srgbClr val="2D9CDB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42048" y="484632"/>
            <a:ext cx="73152" cy="73152"/>
          </a:xfrm>
          <a:prstGeom prst="ellipse">
            <a:avLst/>
          </a:prstGeom>
          <a:solidFill>
            <a:srgbClr val="2D9CDB">
              <a:alpha val="35000"/>
            </a:srgbClr>
          </a:solidFill>
          <a:ln w="12700">
            <a:solidFill>
              <a:srgbClr val="2D9CDB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0" y="484632"/>
            <a:ext cx="73152" cy="73152"/>
          </a:xfrm>
          <a:prstGeom prst="ellipse">
            <a:avLst/>
          </a:prstGeom>
          <a:solidFill>
            <a:srgbClr val="2D9CDB">
              <a:alpha val="35000"/>
            </a:srgbClr>
          </a:solidFill>
          <a:ln w="12700">
            <a:solidFill>
              <a:srgbClr val="2D9CDB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740664"/>
            <a:ext cx="73152" cy="73152"/>
          </a:xfrm>
          <a:prstGeom prst="ellipse">
            <a:avLst/>
          </a:prstGeom>
          <a:solidFill>
            <a:srgbClr val="2D9CDB">
              <a:alpha val="35000"/>
            </a:srgbClr>
          </a:solidFill>
          <a:ln w="12700">
            <a:solidFill>
              <a:srgbClr val="2D9CDB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73952" y="740664"/>
            <a:ext cx="73152" cy="73152"/>
          </a:xfrm>
          <a:prstGeom prst="ellipse">
            <a:avLst/>
          </a:prstGeom>
          <a:solidFill>
            <a:srgbClr val="2D9CDB">
              <a:alpha val="35000"/>
            </a:srgbClr>
          </a:solidFill>
          <a:ln w="12700">
            <a:solidFill>
              <a:srgbClr val="2D9CDB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9984" y="740664"/>
            <a:ext cx="73152" cy="73152"/>
          </a:xfrm>
          <a:prstGeom prst="ellipse">
            <a:avLst/>
          </a:prstGeom>
          <a:solidFill>
            <a:srgbClr val="2D9CDB">
              <a:alpha val="35000"/>
            </a:srgbClr>
          </a:solidFill>
          <a:ln w="12700">
            <a:solidFill>
              <a:srgbClr val="2D9CDB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86016" y="740664"/>
            <a:ext cx="73152" cy="73152"/>
          </a:xfrm>
          <a:prstGeom prst="ellipse">
            <a:avLst/>
          </a:prstGeom>
          <a:solidFill>
            <a:srgbClr val="2D9CDB">
              <a:alpha val="35000"/>
            </a:srgbClr>
          </a:solidFill>
          <a:ln w="12700">
            <a:solidFill>
              <a:srgbClr val="2D9CDB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42048" y="740664"/>
            <a:ext cx="73152" cy="73152"/>
          </a:xfrm>
          <a:prstGeom prst="ellipse">
            <a:avLst/>
          </a:prstGeom>
          <a:solidFill>
            <a:srgbClr val="2D9CDB">
              <a:alpha val="35000"/>
            </a:srgbClr>
          </a:solidFill>
          <a:ln w="12700">
            <a:solidFill>
              <a:srgbClr val="2D9CDB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0" y="740664"/>
            <a:ext cx="73152" cy="73152"/>
          </a:xfrm>
          <a:prstGeom prst="ellipse">
            <a:avLst/>
          </a:prstGeom>
          <a:solidFill>
            <a:srgbClr val="2D9CDB">
              <a:alpha val="35000"/>
            </a:srgbClr>
          </a:solidFill>
          <a:ln w="12700">
            <a:solidFill>
              <a:srgbClr val="2D9CDB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996696"/>
            <a:ext cx="73152" cy="73152"/>
          </a:xfrm>
          <a:prstGeom prst="ellipse">
            <a:avLst/>
          </a:prstGeom>
          <a:solidFill>
            <a:srgbClr val="2D9CDB">
              <a:alpha val="35000"/>
            </a:srgbClr>
          </a:solidFill>
          <a:ln w="12700">
            <a:solidFill>
              <a:srgbClr val="2D9CDB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3952" y="996696"/>
            <a:ext cx="73152" cy="73152"/>
          </a:xfrm>
          <a:prstGeom prst="ellipse">
            <a:avLst/>
          </a:prstGeom>
          <a:solidFill>
            <a:srgbClr val="2D9CDB">
              <a:alpha val="35000"/>
            </a:srgbClr>
          </a:solidFill>
          <a:ln w="12700">
            <a:solidFill>
              <a:srgbClr val="2D9CDB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29984" y="996696"/>
            <a:ext cx="73152" cy="73152"/>
          </a:xfrm>
          <a:prstGeom prst="ellipse">
            <a:avLst/>
          </a:prstGeom>
          <a:solidFill>
            <a:srgbClr val="2D9CDB">
              <a:alpha val="35000"/>
            </a:srgbClr>
          </a:solidFill>
          <a:ln w="12700">
            <a:solidFill>
              <a:srgbClr val="2D9CDB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86016" y="996696"/>
            <a:ext cx="73152" cy="73152"/>
          </a:xfrm>
          <a:prstGeom prst="ellipse">
            <a:avLst/>
          </a:prstGeom>
          <a:solidFill>
            <a:srgbClr val="2D9CDB">
              <a:alpha val="35000"/>
            </a:srgbClr>
          </a:solidFill>
          <a:ln w="12700">
            <a:solidFill>
              <a:srgbClr val="2D9CDB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42048" y="996696"/>
            <a:ext cx="73152" cy="73152"/>
          </a:xfrm>
          <a:prstGeom prst="ellipse">
            <a:avLst/>
          </a:prstGeom>
          <a:solidFill>
            <a:srgbClr val="2D9CDB">
              <a:alpha val="35000"/>
            </a:srgbClr>
          </a:solidFill>
          <a:ln w="12700">
            <a:solidFill>
              <a:srgbClr val="2D9CDB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0" y="996696"/>
            <a:ext cx="73152" cy="73152"/>
          </a:xfrm>
          <a:prstGeom prst="ellipse">
            <a:avLst/>
          </a:prstGeom>
          <a:solidFill>
            <a:srgbClr val="2D9CDB">
              <a:alpha val="35000"/>
            </a:srgbClr>
          </a:solidFill>
          <a:ln w="12700">
            <a:solidFill>
              <a:srgbClr val="2D9CDB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28" name="Shape 26"/>
          <p:cNvSpPr/>
          <p:nvPr/>
        </p:nvSpPr>
        <p:spPr>
          <a:xfrm>
            <a:off x="365760" y="1188720"/>
            <a:ext cx="3200400" cy="36576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132588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project aims to develop a robust AI-driven model for predicting player</a:t>
            </a:r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values using a combination of time-series forecasting, sentiment analysis</a:t>
            </a:r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muti-source data. By leveraging advanced machine learning techniques and</a:t>
            </a:r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multi-variate models this project seeks to provide a dynamic and accurate system for</a:t>
            </a:r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player market values. The finding will contribute to the growing field of</a:t>
            </a:r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analytics and player valuation methodologies.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749040"/>
            <a:ext cx="5486400" cy="896112"/>
          </a:xfrm>
          <a:prstGeom prst="rect">
            <a:avLst/>
          </a:prstGeom>
          <a:solidFill>
            <a:srgbClr val="1A3A5C"/>
          </a:solidFill>
          <a:ln w="12700">
            <a:solidFill>
              <a:srgbClr val="2D9CDB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8640" y="382219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Live Website</a:t>
            </a:r>
            <a:endParaRPr lang="en-US" sz="1100" dirty="0"/>
          </a:p>
        </p:txBody>
      </p:sp>
      <p:sp>
        <p:nvSpPr>
          <p:cNvPr id="32" name="Text 30">
            <a:hlinkClick r:id="rId3"/>
          </p:cNvPr>
          <p:cNvSpPr/>
          <p:nvPr/>
        </p:nvSpPr>
        <p:spPr>
          <a:xfrm>
            <a:off x="548640" y="411480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https://transfer-iq-infosys.onrender.com/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0" y="1188720"/>
            <a:ext cx="2651760" cy="3474720"/>
          </a:xfrm>
          <a:prstGeom prst="rect">
            <a:avLst/>
          </a:prstGeom>
          <a:solidFill>
            <a:srgbClr val="162235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140334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55080" y="2031769"/>
            <a:ext cx="118872" cy="118872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65392" y="1976905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AI model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55080" y="2461537"/>
            <a:ext cx="118872" cy="118872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65392" y="2406673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predictions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55080" y="2891305"/>
            <a:ext cx="118872" cy="118872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65392" y="2836441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outputs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55080" y="3321073"/>
            <a:ext cx="118872" cy="118872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65392" y="3266209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deployed platform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55080" y="3750841"/>
            <a:ext cx="118872" cy="118872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65392" y="3695977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616</Words>
  <Application>Microsoft Office PowerPoint</Application>
  <PresentationFormat>On-screen Show (16:9)</PresentationFormat>
  <Paragraphs>117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TransferIQ</dc:title>
  <dc:subject>PptxGenJS Presentation</dc:subject>
  <dc:creator>PptxGenJS</dc:creator>
  <cp:lastModifiedBy>Akshit Srivastava</cp:lastModifiedBy>
  <cp:revision>9</cp:revision>
  <dcterms:created xsi:type="dcterms:W3CDTF">2026-03-31T05:41:58Z</dcterms:created>
  <dcterms:modified xsi:type="dcterms:W3CDTF">2026-03-31T06:21:45Z</dcterms:modified>
</cp:coreProperties>
</file>